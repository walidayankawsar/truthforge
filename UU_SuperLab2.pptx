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374" y="-16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outline in one breath,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— why this domain matters before narrowing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in one sentence, then the supporting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should map to a result you'll show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4-5 most relevant works; group by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layer/module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tools/decisions the committee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number, then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row/column where your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the objectives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read these aloud — keep for committee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sincere.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7145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33500" y="78105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1279446" cy="704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308271"/>
            <a:ext cx="1634490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FFFF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COMPUTER SCIENCE &amp; ENGINEERING · UTTARA UNIVERSITY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7750" y="4925695"/>
            <a:ext cx="5546725" cy="9994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6450" b="1" kern="0" spc="-64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TruthForge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047750" y="5848985"/>
            <a:ext cx="8305800" cy="5448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7500"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850" b="1" kern="0" spc="-64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Explainable AI  for fake News classification</a:t>
            </a:r>
            <a:endParaRPr lang="en-US" sz="2850" dirty="0"/>
          </a:p>
          <a:p>
            <a:pPr marL="0" indent="0" algn="l">
              <a:lnSpc>
                <a:spcPct val="121000"/>
              </a:lnSpc>
              <a:buNone/>
            </a:pP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8233410"/>
            <a:ext cx="16192500" cy="9525"/>
          </a:xfrm>
          <a:prstGeom prst="rect">
            <a:avLst/>
          </a:prstGeom>
          <a:solidFill>
            <a:srgbClr val="FFFFFF">
              <a:alpha val="22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1047750" y="8622030"/>
            <a:ext cx="5488245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7500"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Members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7750" y="8942070"/>
            <a:ext cx="259842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Md. Rashid Ahamed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345930"/>
            <a:ext cx="1297305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2233081302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0532864" y="8622030"/>
            <a:ext cx="3203234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SUPERVISED BY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532864" y="8903970"/>
            <a:ext cx="3203234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7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 Ashraful Kabir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533499" y="9345930"/>
            <a:ext cx="3203234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7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Uttara University, Dept. of CSE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5509558" y="9071610"/>
            <a:ext cx="1730692" cy="586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Thesis </a:t>
            </a:r>
            <a:r>
              <a:rPr lang="en-US" sz="1875">
                <a:solidFill>
                  <a:srgbClr val="FFFF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Defense </a:t>
            </a:r>
            <a:r>
              <a:rPr lang="en-US" sz="1875" smtClean="0">
                <a:solidFill>
                  <a:srgbClr val="FFFFFF">
                    <a:alpha val="7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14-10-2026</a:t>
            </a:r>
            <a:endParaRPr lang="en-US" sz="1875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868680"/>
            <a:ext cx="2491031" cy="137160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890010" y="8940800"/>
            <a:ext cx="2295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Kanej Fatema Keya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3890010" y="9345930"/>
            <a:ext cx="1618615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2233081550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633845" y="8901430"/>
            <a:ext cx="1969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Kawsar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6633845" y="9345930"/>
            <a:ext cx="1848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>
                    <a:alpha val="78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2243081198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OUTLINE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37959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5" name="Text 3"/>
          <p:cNvSpPr/>
          <p:nvPr/>
        </p:nvSpPr>
        <p:spPr>
          <a:xfrm>
            <a:off x="1047750" y="382333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9750" y="3853815"/>
            <a:ext cx="4068675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37959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8" name="Text 6"/>
          <p:cNvSpPr/>
          <p:nvPr/>
        </p:nvSpPr>
        <p:spPr>
          <a:xfrm>
            <a:off x="9525000" y="382333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3853815"/>
            <a:ext cx="2864548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7207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1" name="Text 9"/>
          <p:cNvSpPr/>
          <p:nvPr/>
        </p:nvSpPr>
        <p:spPr>
          <a:xfrm>
            <a:off x="1047750" y="461581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809750" y="4646295"/>
            <a:ext cx="3092696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Objectives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517207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4" name="Text 12"/>
          <p:cNvSpPr/>
          <p:nvPr/>
        </p:nvSpPr>
        <p:spPr>
          <a:xfrm>
            <a:off x="9525000" y="461581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87000" y="4646295"/>
            <a:ext cx="262042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596455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7" name="Text 15"/>
          <p:cNvSpPr/>
          <p:nvPr/>
        </p:nvSpPr>
        <p:spPr>
          <a:xfrm>
            <a:off x="1047750" y="540829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809750" y="5438775"/>
            <a:ext cx="1955494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6455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20" name="Text 18"/>
          <p:cNvSpPr/>
          <p:nvPr/>
        </p:nvSpPr>
        <p:spPr>
          <a:xfrm>
            <a:off x="9525000" y="540829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87000" y="5438775"/>
            <a:ext cx="2253579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Design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5703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23" name="Text 21"/>
          <p:cNvSpPr/>
          <p:nvPr/>
        </p:nvSpPr>
        <p:spPr>
          <a:xfrm>
            <a:off x="1047750" y="620077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809750" y="6231255"/>
            <a:ext cx="2322862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0" y="675703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26" name="Text 24"/>
          <p:cNvSpPr/>
          <p:nvPr/>
        </p:nvSpPr>
        <p:spPr>
          <a:xfrm>
            <a:off x="9525000" y="620077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87000" y="6231255"/>
            <a:ext cx="2818448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&amp; Analysis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54951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29" name="Text 27"/>
          <p:cNvSpPr/>
          <p:nvPr/>
        </p:nvSpPr>
        <p:spPr>
          <a:xfrm>
            <a:off x="1047750" y="699325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023735"/>
            <a:ext cx="391243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Comparison &amp; Discussion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7549515"/>
            <a:ext cx="771525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32" name="Text 30"/>
          <p:cNvSpPr/>
          <p:nvPr/>
        </p:nvSpPr>
        <p:spPr>
          <a:xfrm>
            <a:off x="9525000" y="6993255"/>
            <a:ext cx="6096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287000" y="7023735"/>
            <a:ext cx="3958269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— INTRODUCTION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 &amp; Background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00125" y="3645242"/>
            <a:ext cx="95250" cy="857250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5" name="Text 3"/>
          <p:cNvSpPr/>
          <p:nvPr/>
        </p:nvSpPr>
        <p:spPr>
          <a:xfrm>
            <a:off x="1314450" y="3645242"/>
            <a:ext cx="8706880" cy="70387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Rapid Spread &amp; High Impact on Social Media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0125" y="4751121"/>
            <a:ext cx="95250" cy="642937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7" name="Text 5"/>
          <p:cNvSpPr/>
          <p:nvPr/>
        </p:nvSpPr>
        <p:spPr>
          <a:xfrm>
            <a:off x="1314450" y="4751121"/>
            <a:ext cx="8212609" cy="697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Sensitivity of Political Content &amp; Censorship Risks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0125" y="5579976"/>
            <a:ext cx="95250" cy="711749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9" name="Text 7"/>
          <p:cNvSpPr/>
          <p:nvPr/>
        </p:nvSpPr>
        <p:spPr>
          <a:xfrm>
            <a:off x="1314450" y="5579976"/>
            <a:ext cx="7248781" cy="7000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Multilingual Barrier in South Asia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/ 15</a:t>
            </a:r>
            <a:endParaRPr lang="en-US" sz="1650" dirty="0"/>
          </a:p>
        </p:txBody>
      </p:sp>
      <p:sp>
        <p:nvSpPr>
          <p:cNvPr id="16" name="Shape 6"/>
          <p:cNvSpPr/>
          <p:nvPr/>
        </p:nvSpPr>
        <p:spPr>
          <a:xfrm>
            <a:off x="1000125" y="6599809"/>
            <a:ext cx="95250" cy="711749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17" name="TextBox 16"/>
          <p:cNvSpPr txBox="1"/>
          <p:nvPr/>
        </p:nvSpPr>
        <p:spPr>
          <a:xfrm>
            <a:off x="1314450" y="6599809"/>
            <a:ext cx="7332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Need for Explainable AI to Build Trust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Picture 17" descr="Gemini_Generated_Image_rf42werf42werf42.jf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392" y="3063052"/>
            <a:ext cx="7500058" cy="46620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— PROBLEM STATEMENT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 We Address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49" y="4432459"/>
            <a:ext cx="16931331" cy="1378267"/>
          </a:xfrm>
          <a:prstGeom prst="rect">
            <a:avLst/>
          </a:prstGeom>
          <a:solidFill>
            <a:srgbClr val="F4F5FC"/>
          </a:solidFill>
        </p:spPr>
      </p:sp>
      <p:sp>
        <p:nvSpPr>
          <p:cNvPr id="5" name="Shape 3"/>
          <p:cNvSpPr/>
          <p:nvPr/>
        </p:nvSpPr>
        <p:spPr>
          <a:xfrm>
            <a:off x="1047750" y="4432459"/>
            <a:ext cx="76200" cy="1378267"/>
          </a:xfrm>
          <a:prstGeom prst="rect">
            <a:avLst/>
          </a:prstGeom>
          <a:solidFill>
            <a:srgbClr val="1200FF"/>
          </a:solidFill>
        </p:spPr>
      </p:sp>
      <p:sp>
        <p:nvSpPr>
          <p:cNvPr id="6" name="Text 4"/>
          <p:cNvSpPr/>
          <p:nvPr/>
        </p:nvSpPr>
        <p:spPr>
          <a:xfrm>
            <a:off x="1619250" y="4851559"/>
            <a:ext cx="16638270" cy="5781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000"/>
              </a:lnSpc>
            </a:pPr>
            <a:r>
              <a:rPr lang="en-US" sz="21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How can we detect fake news in </a:t>
            </a:r>
            <a:r>
              <a:rPr lang="en-US" sz="210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1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, Hindi and English while using political metadata and providing human understandable explanations?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900" y="6248876"/>
            <a:ext cx="5685747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IS AFFECTED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0900" y="6530816"/>
            <a:ext cx="4809353" cy="14809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2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Citizens, journalists, fact checkers, election observers and social media platforms in multilingual South Asia.</a:t>
            </a:r>
          </a:p>
        </p:txBody>
      </p:sp>
      <p:sp>
        <p:nvSpPr>
          <p:cNvPr id="9" name="Text 7"/>
          <p:cNvSpPr/>
          <p:nvPr/>
        </p:nvSpPr>
        <p:spPr>
          <a:xfrm>
            <a:off x="6385524" y="6248876"/>
            <a:ext cx="5685747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LIMITATION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385524" y="6587966"/>
            <a:ext cx="5260376" cy="14809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2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Text only models ignore speaker/source; English centric models fail on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; black box models give no reason to trust or contest the decision.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293333" y="6248876"/>
            <a:ext cx="5685747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NOW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93333" y="6587966"/>
            <a:ext cx="5463685" cy="122253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2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Rising multilingual social media, upcoming elections, and demand for trustworthy AI make explainable multilingual detection urgent now.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15</a:t>
            </a:r>
            <a:endParaRPr lang="en-US" sz="1650" dirty="0"/>
          </a:p>
        </p:txBody>
      </p:sp>
      <p:sp>
        <p:nvSpPr>
          <p:cNvPr id="18" name="Rounded Rectangle 17"/>
          <p:cNvSpPr/>
          <p:nvPr/>
        </p:nvSpPr>
        <p:spPr>
          <a:xfrm>
            <a:off x="660400" y="6057900"/>
            <a:ext cx="5196703" cy="20110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164095" y="6057900"/>
            <a:ext cx="5685747" cy="19539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2071271" y="6057900"/>
            <a:ext cx="5907809" cy="20110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— OBJECTIVES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227195"/>
            <a:ext cx="7883271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1" y="4821555"/>
            <a:ext cx="7361640" cy="716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Build a single multilingual classifier (XLM-</a:t>
            </a:r>
            <a:r>
              <a:rPr lang="en-US" sz="200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RoBERTa</a:t>
            </a:r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) that works for </a:t>
            </a:r>
            <a:r>
              <a:rPr lang="en-US" sz="200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, Hindi and English news text.</a:t>
            </a:r>
            <a:endParaRPr lang="en-US" sz="2000" b="1" dirty="0">
              <a:solidFill>
                <a:srgbClr val="10101B"/>
              </a:solidFill>
              <a:latin typeface="Times New Roman" pitchFamily="18" charset="0"/>
              <a:ea typeface="Arial" panose="020B0604020202020204" pitchFamily="34" charset="-122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9640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5020" y="4227195"/>
            <a:ext cx="7883271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1" y="4821555"/>
            <a:ext cx="7555230" cy="716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Fuse political metadata (party, speaker role, source credibility, domain age) with text via a dedicated meta-MLP.</a:t>
            </a:r>
            <a:endParaRPr lang="en-US" sz="2000" b="1" dirty="0">
              <a:solidFill>
                <a:srgbClr val="10101B"/>
              </a:solidFill>
              <a:latin typeface="Times New Roman" pitchFamily="18" charset="0"/>
              <a:ea typeface="Arial" panose="020B0604020202020204" pitchFamily="34" charset="-122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6370" y="6231255"/>
            <a:ext cx="7883271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6825615"/>
            <a:ext cx="7361641" cy="716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Provide token-level explanations using Layer Integrated Gradients so every decision is </a:t>
            </a:r>
            <a:r>
              <a:rPr lang="en-US" sz="200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inspectable</a:t>
            </a:r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9640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5020" y="6231255"/>
            <a:ext cx="7883271" cy="480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1" y="6825615"/>
            <a:ext cx="7392018" cy="716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Evaluate with macro-F1, ablation (text-only vs. multimodal) and an interactive prediction + explanation demo.</a:t>
            </a:r>
            <a:endParaRPr lang="en-US" sz="2000" b="1" dirty="0">
              <a:solidFill>
                <a:srgbClr val="10101B"/>
              </a:solidFill>
              <a:latin typeface="Times New Roman" pitchFamily="18" charset="0"/>
              <a:ea typeface="Arial" panose="020B0604020202020204" pitchFamily="34" charset="-122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</a:t>
            </a: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LITERATURE REVIEW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8150"/>
            <a:ext cx="16192500" cy="15240"/>
          </a:xfrm>
          <a:prstGeom prst="rect">
            <a:avLst/>
          </a:prstGeom>
          <a:solidFill>
            <a:srgbClr val="10101B"/>
          </a:solidFill>
        </p:spPr>
      </p:sp>
      <p:sp>
        <p:nvSpPr>
          <p:cNvPr id="5" name="Text 3"/>
          <p:cNvSpPr/>
          <p:nvPr/>
        </p:nvSpPr>
        <p:spPr>
          <a:xfrm>
            <a:off x="1047750" y="3802380"/>
            <a:ext cx="4898231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 / YEAR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00688" y="3802380"/>
            <a:ext cx="712470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APPROACH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77688" y="3802380"/>
            <a:ext cx="5788819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508635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9" name="Text 7"/>
          <p:cNvSpPr/>
          <p:nvPr/>
        </p:nvSpPr>
        <p:spPr>
          <a:xfrm>
            <a:off x="1047751" y="4511040"/>
            <a:ext cx="2832272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Shu</a:t>
            </a:r>
            <a:r>
              <a:rPr lang="en-US" sz="225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et al., 2017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00688" y="4511040"/>
            <a:ext cx="6052880" cy="8305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Survey of fake news detection; text + social context features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77688" y="4511040"/>
            <a:ext cx="5788819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Mostly English; limited multilingual &amp; XAI focus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47750" y="617220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3" name="Text 11"/>
          <p:cNvSpPr/>
          <p:nvPr/>
        </p:nvSpPr>
        <p:spPr>
          <a:xfrm>
            <a:off x="1047750" y="5341620"/>
            <a:ext cx="4898231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Conneau</a:t>
            </a:r>
            <a:r>
              <a:rPr lang="en-US" sz="225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et al., 2020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00687" y="5341620"/>
            <a:ext cx="6213517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XLM-R: cross-lingual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RoBERTa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pre-trained on 100 languages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977688" y="5341619"/>
            <a:ext cx="5788819" cy="5848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just"/>
            <a:r>
              <a:rPr lang="en-US" sz="2025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Strong backbone; not applied to metadata aware fake news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7750" y="7760043"/>
            <a:ext cx="1619250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7" name="Text 15"/>
          <p:cNvSpPr/>
          <p:nvPr/>
        </p:nvSpPr>
        <p:spPr>
          <a:xfrm>
            <a:off x="1047750" y="6172200"/>
            <a:ext cx="4898231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Hossain</a:t>
            </a:r>
            <a:r>
              <a:rPr lang="en-US" sz="225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et al., 2020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00688" y="6172199"/>
            <a:ext cx="5781031" cy="5745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BanFakeNews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fake-news dataset &amp; baselines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977688" y="6172200"/>
            <a:ext cx="5788819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algn="just"/>
            <a:r>
              <a:rPr lang="en-US" sz="2025" dirty="0" err="1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025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only; no political metadata or explanations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7751" y="7002780"/>
            <a:ext cx="3882596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b="1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Sundararajan</a:t>
            </a:r>
            <a:r>
              <a:rPr lang="en-US" sz="2250" b="1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et al., 2017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00688" y="7002780"/>
            <a:ext cx="605288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Integrated Gradients for feature attribution in DNNs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977688" y="7002780"/>
            <a:ext cx="5788819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 designed for multilingual news or metadata fusion</a:t>
            </a:r>
            <a:endParaRPr lang="en-US" sz="202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</a:t>
            </a: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Methodology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81050" y="4547234"/>
            <a:ext cx="3886200" cy="2596515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50" y="4897755"/>
            <a:ext cx="495300" cy="495300"/>
          </a:xfrm>
          <a:prstGeom prst="ellipse">
            <a:avLst/>
          </a:prstGeom>
          <a:solidFill>
            <a:srgbClr val="1200FF"/>
          </a:solidFill>
        </p:spPr>
      </p:sp>
      <p:sp>
        <p:nvSpPr>
          <p:cNvPr id="6" name="Text 4"/>
          <p:cNvSpPr/>
          <p:nvPr/>
        </p:nvSpPr>
        <p:spPr>
          <a:xfrm>
            <a:off x="1029533" y="4897755"/>
            <a:ext cx="571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29533" y="5526405"/>
            <a:ext cx="341985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Collection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5838825"/>
            <a:ext cx="3401639" cy="9944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Multilingual political news (</a:t>
            </a:r>
            <a:r>
              <a:rPr lang="en-US" sz="1600" dirty="0" err="1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/Hindi/English) with labels &amp; metadata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29150" y="5507355"/>
            <a:ext cx="6477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238750" y="4547235"/>
            <a:ext cx="3619500" cy="2596514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4020" y="4897755"/>
            <a:ext cx="495300" cy="495300"/>
          </a:xfrm>
          <a:prstGeom prst="ellipse">
            <a:avLst/>
          </a:prstGeom>
          <a:solidFill>
            <a:srgbClr val="1200FF"/>
          </a:solidFill>
        </p:spPr>
      </p:sp>
      <p:sp>
        <p:nvSpPr>
          <p:cNvPr id="12" name="Text 10"/>
          <p:cNvSpPr/>
          <p:nvPr/>
        </p:nvSpPr>
        <p:spPr>
          <a:xfrm>
            <a:off x="5455920" y="4897755"/>
            <a:ext cx="571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4020" y="5526405"/>
            <a:ext cx="341985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55920" y="5934075"/>
            <a:ext cx="3116580" cy="8991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Tokenize (XLM-R); categorical </a:t>
            </a:r>
            <a:r>
              <a:rPr lang="en-US" sz="1600" dirty="0" err="1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vocab</a:t>
            </a: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+ numeric z-score fit on train only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20150" y="5507355"/>
            <a:ext cx="6477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0" y="4547235"/>
            <a:ext cx="3798570" cy="2596514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020" y="4897755"/>
            <a:ext cx="495300" cy="495300"/>
          </a:xfrm>
          <a:prstGeom prst="ellipse">
            <a:avLst/>
          </a:prstGeom>
          <a:solidFill>
            <a:srgbClr val="1200FF"/>
          </a:solidFill>
        </p:spPr>
      </p:sp>
      <p:sp>
        <p:nvSpPr>
          <p:cNvPr id="18" name="Text 16"/>
          <p:cNvSpPr/>
          <p:nvPr/>
        </p:nvSpPr>
        <p:spPr>
          <a:xfrm>
            <a:off x="9646920" y="4897755"/>
            <a:ext cx="571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5020" y="5526405"/>
            <a:ext cx="341985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Approach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85020" y="5934075"/>
            <a:ext cx="3419856" cy="8991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XLM-</a:t>
            </a:r>
            <a:r>
              <a:rPr lang="en-US" sz="1600" dirty="0" err="1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RoBERTa</a:t>
            </a: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+ cat embeddings + meta-MLP + modality dropout + class-weighted 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228320" y="5530215"/>
            <a:ext cx="647700" cy="403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837920" y="4547235"/>
            <a:ext cx="3840480" cy="2596514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76020" y="4897755"/>
            <a:ext cx="495300" cy="495300"/>
          </a:xfrm>
          <a:prstGeom prst="ellipse">
            <a:avLst/>
          </a:prstGeom>
          <a:solidFill>
            <a:srgbClr val="1200FF"/>
          </a:solidFill>
        </p:spPr>
      </p:sp>
      <p:sp>
        <p:nvSpPr>
          <p:cNvPr id="24" name="Text 22"/>
          <p:cNvSpPr/>
          <p:nvPr/>
        </p:nvSpPr>
        <p:spPr>
          <a:xfrm>
            <a:off x="13837920" y="4897755"/>
            <a:ext cx="571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76020" y="5526405"/>
            <a:ext cx="341985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876020" y="5934075"/>
            <a:ext cx="3419856" cy="8991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 smtClean="0">
                <a:solidFill>
                  <a:srgbClr val="4A4A5C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Accuracy, macro-F1, precision, recall; stratified 70/15/15 split; early stopping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</a:t>
            </a: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SYSTEM DESIGN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35705"/>
            <a:ext cx="16192500" cy="853440"/>
          </a:xfrm>
          <a:prstGeom prst="roundRect">
            <a:avLst>
              <a:gd name="adj" fmla="val 17857"/>
            </a:avLst>
          </a:prstGeom>
          <a:solidFill>
            <a:srgbClr val="F4F5FC"/>
          </a:solidFill>
          <a:ln w="15240">
            <a:solidFill>
              <a:srgbClr val="12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903" y="3998595"/>
            <a:ext cx="16038195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Interactive CLI / Predictor API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" y="4779645"/>
            <a:ext cx="1781175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4344" y="5553075"/>
            <a:ext cx="4891872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Encoder (XLM-R + mean pool)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2141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8005" y="5553075"/>
            <a:ext cx="4891872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Metadata Path (cat </a:t>
            </a:r>
            <a:r>
              <a:rPr lang="en-US" sz="1875" b="1" dirty="0" err="1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</a:t>
            </a:r>
            <a:r>
              <a:rPr lang="en-US" sz="1875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+ num + MLP)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9507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71665" y="5553075"/>
            <a:ext cx="4891872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1875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Fusion Head + LIG Explainer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38125" y="6273165"/>
            <a:ext cx="1781175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791325"/>
            <a:ext cx="16192500" cy="853440"/>
          </a:xfrm>
          <a:prstGeom prst="roundRect">
            <a:avLst>
              <a:gd name="adj" fmla="val 17857"/>
            </a:avLst>
          </a:prstGeom>
          <a:ln w="15240">
            <a:solidFill>
              <a:srgbClr val="101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903" y="7054215"/>
            <a:ext cx="16038195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JSON dataset · model checkpoint · </a:t>
            </a:r>
            <a:r>
              <a:rPr lang="en-US" sz="2250" b="1" dirty="0" err="1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vocab</a:t>
            </a:r>
            <a:r>
              <a:rPr lang="en-US" sz="2250" b="1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stats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— IMPLEMENTATION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Implementation Details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34828"/>
            <a:ext cx="853916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TOOLS &amp; TECHNOLOGIES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818697"/>
            <a:ext cx="1755696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69" y="4940617"/>
            <a:ext cx="1360765" cy="529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Python 3.10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36796" y="4818697"/>
            <a:ext cx="1901547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016" y="4940617"/>
            <a:ext cx="1505307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PyTorch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71693" y="4818697"/>
            <a:ext cx="1438394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563" y="4902517"/>
            <a:ext cx="1335524" cy="42767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SHAP &amp; LIME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43437" y="4818697"/>
            <a:ext cx="1689973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9657" y="4940617"/>
            <a:ext cx="129373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7750" y="5470207"/>
            <a:ext cx="1596985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5592127"/>
            <a:ext cx="1200745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endParaRPr lang="en-US" sz="187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7750" y="6274118"/>
            <a:ext cx="7995761" cy="122586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Selected XLM-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RoBERTa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coupled with SHAP over traditional black-box classifiers to ensure cross-lingual feature attribution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Bangla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Hindi while maintaining high model interpretability."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77375" y="3880485"/>
            <a:ext cx="7762875" cy="3619500"/>
          </a:xfrm>
          <a:prstGeom prst="roundRect">
            <a:avLst>
              <a:gd name="adj" fmla="val 4737"/>
            </a:avLst>
          </a:prstGeom>
          <a:solidFill>
            <a:srgbClr val="10101B"/>
          </a:solidFill>
        </p:spPr>
      </p:sp>
      <p:sp>
        <p:nvSpPr>
          <p:cNvPr id="21" name="Text 19"/>
          <p:cNvSpPr/>
          <p:nvPr/>
        </p:nvSpPr>
        <p:spPr>
          <a:xfrm>
            <a:off x="9586912" y="4334828"/>
            <a:ext cx="7482363" cy="288151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class </a:t>
            </a:r>
            <a:r>
              <a:rPr lang="en-US" sz="1650" dirty="0" err="1" smtClean="0">
                <a:solidFill>
                  <a:schemeClr val="bg1"/>
                </a:solidFill>
              </a:rPr>
              <a:t>TruthForge</a:t>
            </a:r>
            <a:r>
              <a:rPr lang="en-US" sz="1650" dirty="0" smtClean="0">
                <a:solidFill>
                  <a:schemeClr val="bg1"/>
                </a:solidFill>
              </a:rPr>
              <a:t>(</a:t>
            </a:r>
            <a:r>
              <a:rPr lang="en-US" sz="1650" dirty="0" err="1" smtClean="0">
                <a:solidFill>
                  <a:schemeClr val="bg1"/>
                </a:solidFill>
              </a:rPr>
              <a:t>nn.Module</a:t>
            </a:r>
            <a:r>
              <a:rPr lang="en-US" sz="1650" dirty="0" smtClean="0">
                <a:solidFill>
                  <a:schemeClr val="bg1"/>
                </a:solidFill>
              </a:rPr>
              <a:t>):</a:t>
            </a:r>
          </a:p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    def forward(self, ids, mask, meta):</a:t>
            </a:r>
          </a:p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        h = </a:t>
            </a:r>
            <a:r>
              <a:rPr lang="en-US" sz="1650" dirty="0" err="1" smtClean="0">
                <a:solidFill>
                  <a:schemeClr val="bg1"/>
                </a:solidFill>
              </a:rPr>
              <a:t>self.xlmr</a:t>
            </a:r>
            <a:r>
              <a:rPr lang="en-US" sz="1650" dirty="0" smtClean="0">
                <a:solidFill>
                  <a:schemeClr val="bg1"/>
                </a:solidFill>
              </a:rPr>
              <a:t>(ids, mask).</a:t>
            </a:r>
            <a:r>
              <a:rPr lang="en-US" sz="1650" dirty="0" err="1" smtClean="0">
                <a:solidFill>
                  <a:schemeClr val="bg1"/>
                </a:solidFill>
              </a:rPr>
              <a:t>last_hidden_state</a:t>
            </a:r>
            <a:r>
              <a:rPr lang="en-US" sz="1650" dirty="0" smtClean="0">
                <a:solidFill>
                  <a:schemeClr val="bg1"/>
                </a:solidFill>
              </a:rPr>
              <a:t>[:, 0]  # [CLS]</a:t>
            </a:r>
          </a:p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        m = </a:t>
            </a:r>
            <a:r>
              <a:rPr lang="en-US" sz="1650" dirty="0" err="1" smtClean="0">
                <a:solidFill>
                  <a:schemeClr val="bg1"/>
                </a:solidFill>
              </a:rPr>
              <a:t>self.meta_mlp</a:t>
            </a:r>
            <a:r>
              <a:rPr lang="en-US" sz="1650" dirty="0" smtClean="0">
                <a:solidFill>
                  <a:schemeClr val="bg1"/>
                </a:solidFill>
              </a:rPr>
              <a:t>(meta)   # party, role, country, credibility, domain age</a:t>
            </a:r>
          </a:p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        z = torch.cat([h, m], dim=1)</a:t>
            </a:r>
          </a:p>
          <a:p>
            <a:pPr>
              <a:lnSpc>
                <a:spcPct val="151000"/>
              </a:lnSpc>
            </a:pPr>
            <a:r>
              <a:rPr lang="en-US" sz="1650" dirty="0" smtClean="0">
                <a:solidFill>
                  <a:schemeClr val="bg1"/>
                </a:solidFill>
              </a:rPr>
              <a:t>        return </a:t>
            </a:r>
            <a:r>
              <a:rPr lang="en-US" sz="1650" dirty="0" err="1" smtClean="0">
                <a:solidFill>
                  <a:schemeClr val="bg1"/>
                </a:solidFill>
              </a:rPr>
              <a:t>self.classifier</a:t>
            </a:r>
            <a:r>
              <a:rPr lang="en-US" sz="1650" dirty="0" smtClean="0">
                <a:solidFill>
                  <a:schemeClr val="bg1"/>
                </a:solidFill>
              </a:rPr>
              <a:t>(z)  # Fake / Real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— RESULTS &amp; ANALYSIS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&amp; Analysis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234351" y="2339340"/>
            <a:ext cx="9525" cy="1146810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5" name="Text 3"/>
          <p:cNvSpPr/>
          <p:nvPr/>
        </p:nvSpPr>
        <p:spPr>
          <a:xfrm>
            <a:off x="1047750" y="2339340"/>
            <a:ext cx="5705261" cy="853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~88%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211830"/>
            <a:ext cx="5705261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875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(test)</a:t>
            </a:r>
            <a:endParaRPr lang="en-US" sz="1875" dirty="0" smtClean="0"/>
          </a:p>
          <a:p>
            <a:pPr marL="0" indent="0" algn="l">
              <a:buNone/>
            </a:pP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733491" y="2339340"/>
            <a:ext cx="9525" cy="1146810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8" name="Text 6"/>
          <p:cNvSpPr/>
          <p:nvPr/>
        </p:nvSpPr>
        <p:spPr>
          <a:xfrm>
            <a:off x="6546771" y="2339340"/>
            <a:ext cx="5705392" cy="853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0.70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6546771" y="3211830"/>
            <a:ext cx="125034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n-US" sz="2000" dirty="0" smtClean="0"/>
              <a:t>Macro F1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45910" y="2339340"/>
            <a:ext cx="5713774" cy="853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50ms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2045910" y="3211830"/>
            <a:ext cx="1768944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n-US" sz="2000" dirty="0" smtClean="0"/>
              <a:t>Inference time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867150"/>
            <a:ext cx="16192500" cy="5173980"/>
          </a:xfrm>
          <a:prstGeom prst="roundRect">
            <a:avLst>
              <a:gd name="adj" fmla="val 3314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15</a:t>
            </a:r>
            <a:endParaRPr lang="en-US" sz="1650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318053" y="4955059"/>
          <a:ext cx="9296400" cy="30768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577017"/>
                <a:gridCol w="1816444"/>
                <a:gridCol w="1902939"/>
              </a:tblGrid>
              <a:tr h="76920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</a:tr>
              <a:tr h="76920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/>
                        <a:t>Text-only (XLM-R)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92 %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0.11</a:t>
                      </a:r>
                      <a:endParaRPr lang="en-US" dirty="0"/>
                    </a:p>
                  </a:txBody>
                  <a:tcPr/>
                </a:tc>
              </a:tr>
              <a:tr h="76920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/>
                        <a:t>+ Metadata (party, role, source credibility, domain age)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96</a:t>
                      </a:r>
                      <a:r>
                        <a:rPr lang="en-US" baseline="0" dirty="0" smtClean="0"/>
                        <a:t>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0.15</a:t>
                      </a:r>
                      <a:endParaRPr lang="en-US" dirty="0"/>
                    </a:p>
                  </a:txBody>
                  <a:tcPr/>
                </a:tc>
              </a:tr>
              <a:tr h="76920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smtClean="0"/>
                        <a:t>Full model (multimodal)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88%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 smtClean="0"/>
                        <a:t>0.07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182864" y="5140411"/>
            <a:ext cx="60573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/>
              <a:t>Ablation: </a:t>
            </a:r>
            <a:r>
              <a:rPr lang="en-US" sz="2000" dirty="0" err="1" smtClean="0"/>
              <a:t>multimodel</a:t>
            </a:r>
            <a:r>
              <a:rPr lang="en-US" sz="2000" dirty="0" smtClean="0"/>
              <a:t> &gt; text only (+X pp); metadata helps.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b="1" dirty="0" err="1" smtClean="0"/>
              <a:t>Explainability</a:t>
            </a:r>
            <a:r>
              <a:rPr lang="en-US" sz="2000" b="1" dirty="0" smtClean="0"/>
              <a:t> (LIG): </a:t>
            </a:r>
            <a:r>
              <a:rPr lang="en-US" sz="2000" dirty="0" smtClean="0"/>
              <a:t>highlights key words supporting Fake/Real.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b="1" dirty="0" err="1" smtClean="0"/>
              <a:t>Multillingual</a:t>
            </a:r>
            <a:r>
              <a:rPr lang="en-US" sz="2000" b="1" dirty="0" smtClean="0"/>
              <a:t>: </a:t>
            </a:r>
            <a:r>
              <a:rPr lang="en-US" sz="2000" dirty="0" smtClean="0"/>
              <a:t>result reported for English, </a:t>
            </a:r>
            <a:r>
              <a:rPr lang="en-US" sz="2000" dirty="0" err="1" smtClean="0"/>
              <a:t>Bangla</a:t>
            </a:r>
            <a:r>
              <a:rPr lang="en-US" sz="2000" dirty="0" smtClean="0"/>
              <a:t> and Hindi.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— COMPARISON &amp; DISCUSSION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Compares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720590"/>
            <a:ext cx="16192500" cy="15240"/>
          </a:xfrm>
          <a:prstGeom prst="rect">
            <a:avLst/>
          </a:prstGeom>
          <a:solidFill>
            <a:srgbClr val="10101B"/>
          </a:solidFill>
        </p:spPr>
      </p:sp>
      <p:sp>
        <p:nvSpPr>
          <p:cNvPr id="5" name="Text 3"/>
          <p:cNvSpPr/>
          <p:nvPr/>
        </p:nvSpPr>
        <p:spPr>
          <a:xfrm>
            <a:off x="1047750" y="4274820"/>
            <a:ext cx="566728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015818" y="4274820"/>
            <a:ext cx="404811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695921" y="4274820"/>
            <a:ext cx="404811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 B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76023" y="4274820"/>
            <a:ext cx="404811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 C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552069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0" name="Text 8"/>
          <p:cNvSpPr/>
          <p:nvPr/>
        </p:nvSpPr>
        <p:spPr>
          <a:xfrm>
            <a:off x="1047750" y="4964430"/>
            <a:ext cx="566728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[Existing Method 1]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15818" y="496443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~84%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95921" y="496443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~0.83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6023" y="496443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1317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5" name="Text 13"/>
          <p:cNvSpPr/>
          <p:nvPr/>
        </p:nvSpPr>
        <p:spPr>
          <a:xfrm>
            <a:off x="1047750" y="5756910"/>
            <a:ext cx="566728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dirty="0" err="1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Bangla</a:t>
            </a:r>
            <a:r>
              <a:rPr lang="en-US" sz="2250" dirty="0" smtClean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baseline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15818" y="575691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~79%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5921" y="575691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~0.77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6023" y="575691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dirty="0" smtClean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320790"/>
            <a:ext cx="16192500" cy="784860"/>
          </a:xfrm>
          <a:prstGeom prst="roundRect">
            <a:avLst>
              <a:gd name="adj" fmla="val 14563"/>
            </a:avLst>
          </a:prstGeom>
          <a:solidFill>
            <a:srgbClr val="F4F5FC"/>
          </a:solidFill>
        </p:spPr>
      </p:sp>
      <p:sp>
        <p:nvSpPr>
          <p:cNvPr id="20" name="Text 18"/>
          <p:cNvSpPr/>
          <p:nvPr/>
        </p:nvSpPr>
        <p:spPr>
          <a:xfrm>
            <a:off x="1238250" y="6549390"/>
            <a:ext cx="5476780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b="1" dirty="0" err="1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TruthForge</a:t>
            </a:r>
            <a:r>
              <a:rPr lang="en-US" sz="22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(ours)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15818" y="654939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~88%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95921" y="6549390"/>
            <a:ext cx="40481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~0.87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376023" y="6549390"/>
            <a:ext cx="3857613" cy="365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250" b="1" dirty="0" smtClean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 (LIG)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14934" y="9345930"/>
            <a:ext cx="701516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— CONCLUSION &amp; FUTURE WORK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9340"/>
            <a:ext cx="8539163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842259"/>
            <a:ext cx="76200" cy="1081087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6" name="Text 4"/>
          <p:cNvSpPr/>
          <p:nvPr/>
        </p:nvSpPr>
        <p:spPr>
          <a:xfrm>
            <a:off x="1276350" y="2842260"/>
            <a:ext cx="7323953" cy="8153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Built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TruthForge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: multilingual XLM-R classifier fused with political metadata and Layer Integrated Gradients explanations.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4156709"/>
            <a:ext cx="76200" cy="894397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8" name="Text 6"/>
          <p:cNvSpPr/>
          <p:nvPr/>
        </p:nvSpPr>
        <p:spPr>
          <a:xfrm>
            <a:off x="1276349" y="4156709"/>
            <a:ext cx="7323953" cy="8501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Addresses text-only, English-only and black-box gaps with one multimodal, explainable model for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Bangla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/Hindi/English.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5435505"/>
            <a:ext cx="76200" cy="952938"/>
          </a:xfrm>
          <a:prstGeom prst="roundRect">
            <a:avLst>
              <a:gd name="adj" fmla="val 50000"/>
            </a:avLst>
          </a:prstGeom>
          <a:solidFill>
            <a:srgbClr val="1200FF"/>
          </a:solidFill>
        </p:spPr>
      </p:sp>
      <p:sp>
        <p:nvSpPr>
          <p:cNvPr id="10" name="Text 8"/>
          <p:cNvSpPr/>
          <p:nvPr/>
        </p:nvSpPr>
        <p:spPr>
          <a:xfrm>
            <a:off x="1276350" y="5435505"/>
            <a:ext cx="7323952" cy="9529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First joint </a:t>
            </a:r>
            <a:r>
              <a:rPr lang="en-US" sz="2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text+political</a:t>
            </a: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-metadata + XAI pipeline tailored for South-Asian multilingual news.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477375" y="2339340"/>
            <a:ext cx="9525" cy="6701790"/>
          </a:xfrm>
          <a:prstGeom prst="rect">
            <a:avLst/>
          </a:prstGeom>
          <a:solidFill>
            <a:srgbClr val="E1E3F0"/>
          </a:solidFill>
        </p:spPr>
      </p:sp>
      <p:sp>
        <p:nvSpPr>
          <p:cNvPr id="12" name="Text 10"/>
          <p:cNvSpPr/>
          <p:nvPr/>
        </p:nvSpPr>
        <p:spPr>
          <a:xfrm>
            <a:off x="10151745" y="2339340"/>
            <a:ext cx="7797356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WORK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51745" y="2842260"/>
            <a:ext cx="45719" cy="815340"/>
          </a:xfrm>
          <a:prstGeom prst="roundRect">
            <a:avLst>
              <a:gd name="adj" fmla="val 50000"/>
            </a:avLst>
          </a:prstGeom>
          <a:solidFill>
            <a:srgbClr val="4A4A5C"/>
          </a:solidFill>
        </p:spPr>
      </p:sp>
      <p:sp>
        <p:nvSpPr>
          <p:cNvPr id="14" name="Text 12"/>
          <p:cNvSpPr/>
          <p:nvPr/>
        </p:nvSpPr>
        <p:spPr>
          <a:xfrm>
            <a:off x="10380345" y="2842260"/>
            <a:ext cx="4874526" cy="657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1000"/>
              </a:lnSpc>
            </a:pPr>
            <a:r>
              <a:rPr lang="en-US" sz="2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Limited labeled multilingual political data; need larger annotated corpora.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151744" y="3928110"/>
            <a:ext cx="45719" cy="841598"/>
          </a:xfrm>
          <a:prstGeom prst="roundRect">
            <a:avLst>
              <a:gd name="adj" fmla="val 50000"/>
            </a:avLst>
          </a:prstGeom>
          <a:solidFill>
            <a:srgbClr val="4A4A5C"/>
          </a:solidFill>
        </p:spPr>
      </p:sp>
      <p:sp>
        <p:nvSpPr>
          <p:cNvPr id="16" name="Text 14"/>
          <p:cNvSpPr/>
          <p:nvPr/>
        </p:nvSpPr>
        <p:spPr>
          <a:xfrm>
            <a:off x="10380345" y="3923347"/>
            <a:ext cx="4647426" cy="8463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just">
              <a:lnSpc>
                <a:spcPct val="131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Investigating Metadata-Aware XAI for Human Fact-Checkers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189845" y="5006880"/>
            <a:ext cx="45719" cy="687140"/>
          </a:xfrm>
          <a:prstGeom prst="roundRect">
            <a:avLst>
              <a:gd name="adj" fmla="val 50000"/>
            </a:avLst>
          </a:prstGeom>
          <a:solidFill>
            <a:srgbClr val="4A4A5C"/>
          </a:solidFill>
        </p:spPr>
      </p:sp>
      <p:sp>
        <p:nvSpPr>
          <p:cNvPr id="18" name="Text 16"/>
          <p:cNvSpPr/>
          <p:nvPr/>
        </p:nvSpPr>
        <p:spPr>
          <a:xfrm>
            <a:off x="10380345" y="5006880"/>
            <a:ext cx="493520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algn="just">
              <a:lnSpc>
                <a:spcPct val="131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Adaptive &amp; Cross-Platform Detection Systems</a:t>
            </a:r>
            <a:endParaRPr lang="en-US" sz="2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— REFERENCES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86000"/>
            <a:ext cx="16954500" cy="619125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[1] K.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Shu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Sliva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S. Wang, J. Tang, and H. Liu, “Fake News Detection on Social Media: A Data Mining Perspective,” ACM SIGKDD Explorations Newsletter, vol. 19, no. 1, pp. 22–36, 2017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2] A.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Conneau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et al., “Unsupervised Cross-lingual Representation Learning at Scale,” Proceedings of the 58th Annual Meeting of the Association for Computational Linguistics, pp. 8440–8451, 2020.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3] M. Z.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Hossain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M. A.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Rahman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M. S. Islam, and S.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“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BanFakeNews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Dataset for Detecting Fake News 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Bangla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,” Proceedings of the Twelfth Language Resources and Evaluation Conference, pp. 2862–2871, 2020.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4] M.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Sundararajan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Taly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Q. Yan, “Axiomatic Attribution for Deep Networks,” Proceedings of the 34th International Conference on Machine Learning, vol. 70, pp. 3319–3328, 2017.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5] D.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Khattar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J.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Goud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M. Gupta, and V.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Varma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“MVA: Multimodal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Variational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Fake News Detection,” The World Wide Web Conference (WWW ’19), pp. 2915–2921, 2019.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6] S. M. Mohammad et al., “The State of the Art in Fake News Detection: A Survey,” Proceedings of the 2021 Conference on Empirical Methods in Natural Language Processing, 2021.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— ACKNOWLEDGEMENT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Acknowledgement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66285"/>
            <a:ext cx="13342620" cy="1866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just">
              <a:lnSpc>
                <a:spcPct val="138000"/>
              </a:lnSpc>
            </a:pPr>
            <a:r>
              <a:rPr lang="en-US" sz="3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We sincerely thank our supervisor </a:t>
            </a:r>
            <a:r>
              <a:rPr lang="en-US" sz="3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Md</a:t>
            </a:r>
            <a:r>
              <a:rPr lang="en-US" sz="3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Ashraful</a:t>
            </a:r>
            <a:r>
              <a:rPr lang="en-US" sz="3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</a:t>
            </a:r>
            <a:r>
              <a:rPr lang="en-US" sz="3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Kabir</a:t>
            </a:r>
            <a:r>
              <a:rPr lang="en-US" sz="3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for his guidance, the Department of CSE at </a:t>
            </a:r>
            <a:r>
              <a:rPr lang="en-US" sz="3000" dirty="0" err="1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Uttara</a:t>
            </a:r>
            <a:r>
              <a:rPr lang="en-US" sz="3000" dirty="0" smtClean="0">
                <a:solidFill>
                  <a:srgbClr val="10101B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 University, and our families and peers for their constant support throughout this thesis.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15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4770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524000" y="-19050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70" y="3394710"/>
            <a:ext cx="117574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14929" y="4480560"/>
            <a:ext cx="4858024" cy="1127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0" b="1" kern="0" spc="-75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7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1426</Words>
  <Application>WPS Presentation</Application>
  <PresentationFormat>Custom</PresentationFormat>
  <Paragraphs>240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KAWSAR</cp:lastModifiedBy>
  <cp:revision>50</cp:revision>
  <dcterms:created xsi:type="dcterms:W3CDTF">2026-07-14T10:42:00Z</dcterms:created>
  <dcterms:modified xsi:type="dcterms:W3CDTF">2026-10-13T14:13:44Z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DB50B268BB7F4E7BA18AAEEBE25EF367_13</vt:lpwstr>
  </property>
</Properties>
</file>